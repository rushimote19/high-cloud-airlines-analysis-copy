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4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2" r:id="rId6"/>
    <p:sldId id="263" r:id="rId7"/>
    <p:sldId id="268" r:id="rId8"/>
    <p:sldId id="270" r:id="rId9"/>
    <p:sldId id="264" r:id="rId10"/>
    <p:sldId id="265" r:id="rId11"/>
    <p:sldId id="269" r:id="rId12"/>
  </p:sldIdLst>
  <p:sldSz cx="12192000" cy="6858000"/>
  <p:notesSz cx="6858000" cy="12192000"/>
  <p:embeddedFontLst>
    <p:embeddedFont>
      <p:font typeface="Bahnschrift" panose="020B0502040204020203" pitchFamily="34" charset="0"/>
      <p:regular r:id="rId14"/>
      <p:bold r:id="rId15"/>
    </p:embeddedFont>
    <p:embeddedFont>
      <p:font typeface="Barlow Bold" panose="020B0604020202020204" charset="0"/>
      <p:regular r:id="rId16"/>
    </p:embeddedFont>
    <p:embeddedFont>
      <p:font typeface="Garamond" panose="02020404030301010803" pitchFamily="18" charset="0"/>
      <p:regular r:id="rId17"/>
      <p:bold r:id="rId18"/>
      <p:italic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2185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81EE0-F6D0-8E95-265D-30B4BE3E1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3867B-97BE-FB7A-7487-CC95D4416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775D4E-E51F-DE64-5AEA-4A8F433DE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9C4AD-6C62-4473-A802-B9545ACFE9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242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6538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9918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6587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16049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3254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05775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44864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95412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85604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476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78559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9687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91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223520"/>
            <a:ext cx="4587425" cy="6400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1907" y="1189607"/>
            <a:ext cx="6759308" cy="729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3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Airlines Performance Dashboard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7118" y="1978090"/>
            <a:ext cx="6250783" cy="729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IN" sz="2000" b="1" dirty="0">
                <a:latin typeface="Montserrat" panose="00000500000000000000" pitchFamily="2" charset="0"/>
              </a:rPr>
              <a:t>Airline Performance Analysis for Business &amp; Operational Insights</a:t>
            </a:r>
            <a:r>
              <a:rPr lang="en-US" sz="1850" b="1" dirty="0">
                <a:solidFill>
                  <a:srgbClr val="2E3C4E"/>
                </a:solidFill>
                <a:latin typeface="Montserrat" panose="00000500000000000000" pitchFamily="2" charset="0"/>
                <a:ea typeface="Barlow Bold" pitchFamily="34" charset="-122"/>
                <a:cs typeface="Barlow Bold" pitchFamily="34" charset="-120"/>
              </a:rPr>
              <a:t>.</a:t>
            </a:r>
          </a:p>
          <a:p>
            <a:pPr>
              <a:lnSpc>
                <a:spcPct val="104000"/>
              </a:lnSpc>
            </a:pPr>
            <a:endParaRPr lang="en-US" sz="1850" b="1" dirty="0">
              <a:solidFill>
                <a:srgbClr val="2E3C4E"/>
              </a:solidFill>
              <a:latin typeface="Montserrat" panose="000005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228244" y="3334088"/>
            <a:ext cx="1520166" cy="2203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600" b="1" dirty="0">
                <a:solidFill>
                  <a:srgbClr val="384653"/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  <a:t>Presented by :</a:t>
            </a:r>
          </a:p>
          <a:p>
            <a:pPr>
              <a:lnSpc>
                <a:spcPct val="133000"/>
              </a:lnSpc>
            </a:pPr>
            <a:r>
              <a:rPr lang="en-US" sz="1600" dirty="0">
                <a:solidFill>
                  <a:srgbClr val="384653"/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  <a:t>Durga prasad</a:t>
            </a:r>
            <a:br>
              <a:rPr lang="en-US" sz="1600" dirty="0">
                <a:solidFill>
                  <a:srgbClr val="384653"/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600" dirty="0">
                <a:solidFill>
                  <a:srgbClr val="384653"/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  <a:t>Kalyani</a:t>
            </a:r>
            <a:br>
              <a:rPr lang="en-US" sz="1600" dirty="0">
                <a:solidFill>
                  <a:srgbClr val="384653"/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600" dirty="0">
                <a:solidFill>
                  <a:srgbClr val="384653"/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  <a:t>Snehal</a:t>
            </a:r>
            <a:br>
              <a:rPr lang="en-US" sz="1600" dirty="0">
                <a:solidFill>
                  <a:srgbClr val="384653"/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600" dirty="0">
                <a:solidFill>
                  <a:srgbClr val="384653"/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  <a:t>Paresh</a:t>
            </a:r>
            <a:br>
              <a:rPr lang="en-US" sz="1600" dirty="0">
                <a:solidFill>
                  <a:srgbClr val="384653"/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600" dirty="0">
                <a:solidFill>
                  <a:srgbClr val="384653"/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  <a:t>Ved Rathore</a:t>
            </a:r>
            <a:br>
              <a:rPr lang="en-US" sz="1600" dirty="0">
                <a:solidFill>
                  <a:srgbClr val="384653"/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600" dirty="0">
                <a:solidFill>
                  <a:srgbClr val="384653"/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  <a:t>Yerni Babu</a:t>
            </a:r>
            <a:br>
              <a:rPr lang="en-US" sz="1600" dirty="0">
                <a:solidFill>
                  <a:srgbClr val="384653"/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400" dirty="0">
                <a:solidFill>
                  <a:srgbClr val="384653"/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  <a:t>Rushikesh</a:t>
            </a:r>
            <a:br>
              <a:rPr lang="en-US" sz="1400" dirty="0">
                <a:solidFill>
                  <a:srgbClr val="384653"/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</a:br>
            <a:endParaRPr lang="en-US" sz="1400"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31908" y="748007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Project Overview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57327" y="1429742"/>
            <a:ext cx="109278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airline industry generates large volumes of operational and customer data every day. This project develops interactive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Tableau dashboards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centralize airline performance monitoring and support data-driven decision-making.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7539" y="2642989"/>
            <a:ext cx="5373652" cy="1067693"/>
          </a:xfrm>
          <a:prstGeom prst="roundRect">
            <a:avLst>
              <a:gd name="adj" fmla="val 25365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18733" y="2829818"/>
            <a:ext cx="500000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2000" dirty="0"/>
              <a:t>✈️ </a:t>
            </a:r>
            <a:r>
              <a:rPr lang="en-IN" sz="2000" b="1" dirty="0"/>
              <a:t>Flight Performance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18733" y="3234928"/>
            <a:ext cx="500000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IN" sz="1200" dirty="0">
                <a:latin typeface="Montserrat" panose="00000500000000000000" pitchFamily="2" charset="0"/>
              </a:rPr>
              <a:t>Track total flights, delays, cancellations, and on-time performance</a:t>
            </a:r>
            <a:r>
              <a:rPr lang="en-IN" sz="1400" dirty="0"/>
              <a:t>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4078" y="2667862"/>
            <a:ext cx="5373752" cy="1067693"/>
          </a:xfrm>
          <a:prstGeom prst="roundRect">
            <a:avLst>
              <a:gd name="adj" fmla="val 25365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372859" y="2829818"/>
            <a:ext cx="500010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2000" dirty="0"/>
              <a:t>📊 </a:t>
            </a:r>
            <a:r>
              <a:rPr lang="en-IN" sz="2000" b="1" dirty="0"/>
              <a:t>Passenger Insights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72859" y="3234928"/>
            <a:ext cx="500010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IN" sz="1200" dirty="0">
                <a:latin typeface="Montserrat" panose="00000500000000000000" pitchFamily="2" charset="0"/>
              </a:rPr>
              <a:t>Monitor passenger traffic, occupancy trends, and travel demand</a:t>
            </a:r>
            <a:r>
              <a:rPr lang="en-IN" sz="1400" dirty="0"/>
              <a:t>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1908" y="3891161"/>
            <a:ext cx="5373652" cy="1067693"/>
          </a:xfrm>
          <a:prstGeom prst="roundRect">
            <a:avLst>
              <a:gd name="adj" fmla="val 25365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18733" y="4077990"/>
            <a:ext cx="500000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2000" dirty="0"/>
              <a:t>🛫 </a:t>
            </a:r>
            <a:r>
              <a:rPr lang="en-IN" sz="2000" b="1" dirty="0"/>
              <a:t>Route Analysis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97711" y="4483099"/>
            <a:ext cx="500000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IN" sz="1200" dirty="0">
                <a:latin typeface="Montserrat" panose="00000500000000000000" pitchFamily="2" charset="0"/>
              </a:rPr>
              <a:t>Analyze origin and destination routes to identify high-traffic routes</a:t>
            </a:r>
            <a:r>
              <a:rPr lang="en-IN" sz="1400" dirty="0"/>
              <a:t>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86035" y="3891161"/>
            <a:ext cx="5373752" cy="1067693"/>
          </a:xfrm>
          <a:prstGeom prst="roundRect">
            <a:avLst>
              <a:gd name="adj" fmla="val 25365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6372859" y="4077990"/>
            <a:ext cx="500010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2000" dirty="0"/>
              <a:t>💰 </a:t>
            </a:r>
            <a:r>
              <a:rPr lang="en-IN" sz="2000" b="1" dirty="0"/>
              <a:t>Airline Performance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372859" y="4445298"/>
            <a:ext cx="4841322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IN" sz="1200" dirty="0">
                <a:latin typeface="Montserrat" panose="00000500000000000000" pitchFamily="2" charset="0"/>
              </a:rPr>
              <a:t>Compare airline operations based on flights and distance covered</a:t>
            </a:r>
            <a:r>
              <a:rPr lang="en-IN" sz="1200" dirty="0"/>
              <a:t>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1908" y="5139333"/>
            <a:ext cx="5373652" cy="1067693"/>
          </a:xfrm>
          <a:prstGeom prst="roundRect">
            <a:avLst>
              <a:gd name="adj" fmla="val 25365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18733" y="5326162"/>
            <a:ext cx="500000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2000" dirty="0"/>
              <a:t>📈 </a:t>
            </a:r>
            <a:r>
              <a:rPr lang="en-IN" sz="2000" b="1" dirty="0"/>
              <a:t>Operational Analysis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64509" y="5758681"/>
            <a:ext cx="500000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IN" sz="1100" dirty="0">
                <a:latin typeface="Montserrat" panose="00000500000000000000" pitchFamily="2" charset="0"/>
              </a:rPr>
              <a:t>Measure flight trends, carrier performance, and delay patterns across regions</a:t>
            </a:r>
            <a:r>
              <a:rPr lang="en-IN" sz="1400" dirty="0"/>
              <a:t>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86035" y="5139333"/>
            <a:ext cx="5373752" cy="1067693"/>
          </a:xfrm>
          <a:prstGeom prst="roundRect">
            <a:avLst>
              <a:gd name="adj" fmla="val 25365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372859" y="5326162"/>
            <a:ext cx="500010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2000" dirty="0"/>
              <a:t>🎯 </a:t>
            </a:r>
            <a:r>
              <a:rPr lang="en-IN" sz="2000" b="1" dirty="0"/>
              <a:t>Decision Support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6214078" y="5758680"/>
            <a:ext cx="500010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IN" sz="1200" dirty="0">
                <a:latin typeface="Montserrat" panose="00000500000000000000" pitchFamily="2" charset="0"/>
              </a:rPr>
              <a:t>Enable stakeholders to make informed business decision dashboards</a:t>
            </a:r>
            <a:r>
              <a:rPr lang="en-IN" sz="1400" dirty="0"/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23981" y="592832"/>
            <a:ext cx="1387837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1908" y="832048"/>
            <a:ext cx="10927878" cy="504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Business Problem</a:t>
            </a:r>
            <a:endParaRPr lang="en-US" sz="3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31908" y="1741734"/>
            <a:ext cx="5276718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Core Challenge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31908" y="2323322"/>
            <a:ext cx="10927878" cy="94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3000"/>
              </a:lnSpc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Airline organizations manage massive volumes of flight and operational data from multiple sources. However, fragmented data, manual reporting, and limited real-time visibility make it difficult to monitor performance, identify delays, and improve operational efficiency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787980" y="4178300"/>
            <a:ext cx="4624768" cy="681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5DBCDB-70B3-80ED-A825-C904804395B3}"/>
              </a:ext>
            </a:extLst>
          </p:cNvPr>
          <p:cNvSpPr txBox="1"/>
          <p:nvPr/>
        </p:nvSpPr>
        <p:spPr>
          <a:xfrm>
            <a:off x="631908" y="3711373"/>
            <a:ext cx="6228080" cy="16265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✈️ Scattered Flight Data Across Multiple Sources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Manual and Time-Consuming Reporting Process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⏱️ Limited Visibility into Flight Performance and Delays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📉 Difficulty in Tracking Key Performance Indicators (KPIs)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Lack of Data-Driven Decision Support for Airline Operations</a:t>
            </a:r>
          </a:p>
          <a:p>
            <a:pPr>
              <a:lnSpc>
                <a:spcPct val="123000"/>
              </a:lnSpc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19208" y="707475"/>
            <a:ext cx="10927878" cy="564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Datasets Used</a:t>
            </a:r>
            <a:endParaRPr lang="en-US" sz="3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38258" y="2452291"/>
            <a:ext cx="10915178" cy="4757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9803" y="2556371"/>
            <a:ext cx="353805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087512" y="2556371"/>
            <a:ext cx="7904064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350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57D0617-B58C-CCD5-282B-C7EAA81F4789}"/>
              </a:ext>
            </a:extLst>
          </p:cNvPr>
          <p:cNvSpPr/>
          <p:nvPr/>
        </p:nvSpPr>
        <p:spPr>
          <a:xfrm>
            <a:off x="2052735" y="1629647"/>
            <a:ext cx="7477024" cy="376592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algn="r">
              <a:lnSpc>
                <a:spcPct val="150000"/>
              </a:lnSpc>
            </a:pPr>
            <a:r>
              <a:rPr lang="en-US" sz="2400" b="1" dirty="0"/>
              <a:t>       </a:t>
            </a:r>
          </a:p>
          <a:p>
            <a:pPr>
              <a:lnSpc>
                <a:spcPct val="150000"/>
              </a:lnSpc>
            </a:pPr>
            <a:r>
              <a:rPr lang="en-IN" dirty="0"/>
              <a:t>🛫 </a:t>
            </a:r>
            <a:r>
              <a:rPr lang="en-IN" b="1" dirty="0"/>
              <a:t>Flights Data </a:t>
            </a:r>
          </a:p>
          <a:p>
            <a:pPr>
              <a:lnSpc>
                <a:spcPct val="150000"/>
              </a:lnSpc>
            </a:pPr>
            <a:r>
              <a:rPr lang="en-IN" dirty="0"/>
              <a:t>✈️ </a:t>
            </a:r>
            <a:r>
              <a:rPr lang="en-IN" b="1" dirty="0"/>
              <a:t>Airlines Data </a:t>
            </a:r>
          </a:p>
          <a:p>
            <a:pPr>
              <a:lnSpc>
                <a:spcPct val="150000"/>
              </a:lnSpc>
            </a:pPr>
            <a:r>
              <a:rPr lang="en-IN" dirty="0"/>
              <a:t>🌍 </a:t>
            </a:r>
            <a:r>
              <a:rPr lang="en-IN" b="1" dirty="0"/>
              <a:t>Origin Markets </a:t>
            </a:r>
          </a:p>
          <a:p>
            <a:pPr>
              <a:lnSpc>
                <a:spcPct val="150000"/>
              </a:lnSpc>
            </a:pPr>
            <a:r>
              <a:rPr lang="en-IN" dirty="0"/>
              <a:t>📍 </a:t>
            </a:r>
            <a:r>
              <a:rPr lang="en-IN" b="1" dirty="0"/>
              <a:t>Destination Markets </a:t>
            </a:r>
          </a:p>
          <a:p>
            <a:pPr>
              <a:lnSpc>
                <a:spcPct val="150000"/>
              </a:lnSpc>
            </a:pPr>
            <a:r>
              <a:rPr lang="en-IN" dirty="0"/>
              <a:t>🛩️ </a:t>
            </a:r>
            <a:r>
              <a:rPr lang="en-IN" b="1" dirty="0"/>
              <a:t>Aircraft Types 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IN" dirty="0"/>
              <a:t>📦 </a:t>
            </a:r>
            <a:r>
              <a:rPr lang="en-IN" b="1" dirty="0"/>
              <a:t>Aircraft Groups </a:t>
            </a:r>
          </a:p>
          <a:p>
            <a:pPr>
              <a:lnSpc>
                <a:spcPct val="150000"/>
              </a:lnSpc>
            </a:pPr>
            <a:r>
              <a:rPr lang="en-IN" dirty="0"/>
              <a:t>🏢 </a:t>
            </a:r>
            <a:r>
              <a:rPr lang="en-IN" b="1" dirty="0"/>
              <a:t>Carrier Groups </a:t>
            </a:r>
          </a:p>
          <a:p>
            <a:pPr>
              <a:lnSpc>
                <a:spcPct val="150000"/>
              </a:lnSpc>
            </a:pPr>
            <a:r>
              <a:rPr lang="en-IN" dirty="0"/>
              <a:t>🌐 </a:t>
            </a:r>
            <a:r>
              <a:rPr lang="en-IN" b="1" dirty="0"/>
              <a:t>Carrier Operating Region </a:t>
            </a:r>
          </a:p>
          <a:p>
            <a:pPr>
              <a:lnSpc>
                <a:spcPct val="150000"/>
              </a:lnSpc>
            </a:pPr>
            <a:r>
              <a:rPr lang="en-IN" dirty="0"/>
              <a:t>📏 </a:t>
            </a:r>
            <a:r>
              <a:rPr lang="en-IN" b="1" dirty="0"/>
              <a:t>Distance Groups </a:t>
            </a:r>
          </a:p>
          <a:p>
            <a:pPr>
              <a:lnSpc>
                <a:spcPct val="150000"/>
              </a:lnSpc>
            </a:pPr>
            <a:r>
              <a:rPr lang="en-IN" dirty="0"/>
              <a:t>📋 </a:t>
            </a:r>
            <a:r>
              <a:rPr lang="en-IN" b="1" dirty="0"/>
              <a:t>Flight Types </a:t>
            </a:r>
          </a:p>
          <a:p>
            <a:pPr algn="ctr"/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23C8B73-B40F-C887-E9C2-D1E429BD87B9}"/>
              </a:ext>
            </a:extLst>
          </p:cNvPr>
          <p:cNvSpPr txBox="1"/>
          <p:nvPr/>
        </p:nvSpPr>
        <p:spPr>
          <a:xfrm>
            <a:off x="3201787" y="2079428"/>
            <a:ext cx="3912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</a:rPr>
              <a:t>High cloud Airlines Data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656A95-87B8-F558-8AFE-0839E651620C}"/>
              </a:ext>
            </a:extLst>
          </p:cNvPr>
          <p:cNvSpPr txBox="1"/>
          <p:nvPr/>
        </p:nvSpPr>
        <p:spPr>
          <a:xfrm>
            <a:off x="2366002" y="2087067"/>
            <a:ext cx="2118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b="1" u="sng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07710" y="593229"/>
            <a:ext cx="1297451" cy="116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31907" y="466531"/>
            <a:ext cx="10920519" cy="65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Airline Key Performance Indicators</a:t>
            </a:r>
            <a:endParaRPr lang="en-US" sz="3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0EFB7F-8F5B-D6AC-81DD-65B3A7D57F67}"/>
              </a:ext>
            </a:extLst>
          </p:cNvPr>
          <p:cNvSpPr/>
          <p:nvPr/>
        </p:nvSpPr>
        <p:spPr>
          <a:xfrm>
            <a:off x="1589379" y="1665486"/>
            <a:ext cx="2951994" cy="3527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Text 4">
            <a:extLst>
              <a:ext uri="{FF2B5EF4-FFF2-40B4-BE49-F238E27FC236}">
                <a16:creationId xmlns:a16="http://schemas.microsoft.com/office/drawing/2014/main" id="{02762622-1079-F749-2EB9-FC39CD3E448B}"/>
              </a:ext>
            </a:extLst>
          </p:cNvPr>
          <p:cNvSpPr/>
          <p:nvPr/>
        </p:nvSpPr>
        <p:spPr>
          <a:xfrm>
            <a:off x="1443200" y="1747042"/>
            <a:ext cx="3785994" cy="335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50" dirty="0">
                <a:solidFill>
                  <a:schemeClr val="bg1"/>
                </a:solidFill>
                <a:latin typeface="Barlow Bold" panose="020B0604020202020204" charset="0"/>
                <a:ea typeface="Calibri" panose="020F0502020204030204" pitchFamily="34" charset="0"/>
                <a:cs typeface="Calibri" panose="020F0502020204030204" pitchFamily="34" charset="0"/>
              </a:rPr>
              <a:t>210</a:t>
            </a:r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CB728614-C199-7542-DC59-79E39A404C1E}"/>
              </a:ext>
            </a:extLst>
          </p:cNvPr>
          <p:cNvSpPr/>
          <p:nvPr/>
        </p:nvSpPr>
        <p:spPr>
          <a:xfrm>
            <a:off x="631908" y="2211983"/>
            <a:ext cx="5408676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Barlow Bold" panose="020B0604020202020204" charset="0"/>
              </a:rPr>
              <a:t>Total Airlines</a:t>
            </a:r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9E74F454-27AC-6357-1F12-D001D49473CF}"/>
              </a:ext>
            </a:extLst>
          </p:cNvPr>
          <p:cNvSpPr/>
          <p:nvPr/>
        </p:nvSpPr>
        <p:spPr>
          <a:xfrm>
            <a:off x="1443200" y="2884785"/>
            <a:ext cx="3785994" cy="41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50" dirty="0">
                <a:solidFill>
                  <a:schemeClr val="bg1"/>
                </a:solidFill>
                <a:latin typeface="Barlow Bold" panose="020B0604020202020204" charset="0"/>
                <a:ea typeface="Calibri" panose="020F0502020204030204" pitchFamily="34" charset="0"/>
                <a:cs typeface="Calibri" panose="020F0502020204030204" pitchFamily="34" charset="0"/>
              </a:rPr>
              <a:t>1,296</a:t>
            </a:r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E6B00B38-6604-1229-8897-F40EC4E311A1}"/>
              </a:ext>
            </a:extLst>
          </p:cNvPr>
          <p:cNvSpPr/>
          <p:nvPr/>
        </p:nvSpPr>
        <p:spPr>
          <a:xfrm>
            <a:off x="631908" y="3431282"/>
            <a:ext cx="5408676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Barlow Bold" panose="020B0604020202020204" charset="0"/>
              </a:rPr>
              <a:t>Total cities</a:t>
            </a:r>
          </a:p>
        </p:txBody>
      </p:sp>
      <p:sp>
        <p:nvSpPr>
          <p:cNvPr id="59" name="Text 16">
            <a:extLst>
              <a:ext uri="{FF2B5EF4-FFF2-40B4-BE49-F238E27FC236}">
                <a16:creationId xmlns:a16="http://schemas.microsoft.com/office/drawing/2014/main" id="{AA513D18-F96E-5C08-DA9F-CF34A83A2591}"/>
              </a:ext>
            </a:extLst>
          </p:cNvPr>
          <p:cNvSpPr/>
          <p:nvPr/>
        </p:nvSpPr>
        <p:spPr>
          <a:xfrm>
            <a:off x="1443200" y="4104084"/>
            <a:ext cx="3785994" cy="41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50" b="1" dirty="0">
                <a:solidFill>
                  <a:schemeClr val="bg1"/>
                </a:solidFill>
                <a:latin typeface="Barlow Bold" panose="020B0604020202020204" charset="0"/>
                <a:ea typeface="Calibri" panose="020F0502020204030204" pitchFamily="34" charset="0"/>
                <a:cs typeface="Calibri" panose="020F0502020204030204" pitchFamily="34" charset="0"/>
              </a:rPr>
              <a:t>18,702,260</a:t>
            </a:r>
          </a:p>
        </p:txBody>
      </p:sp>
      <p:sp>
        <p:nvSpPr>
          <p:cNvPr id="61" name="Text 17">
            <a:extLst>
              <a:ext uri="{FF2B5EF4-FFF2-40B4-BE49-F238E27FC236}">
                <a16:creationId xmlns:a16="http://schemas.microsoft.com/office/drawing/2014/main" id="{C3714CCF-6E15-6ACB-1AE2-4448234E7C9C}"/>
              </a:ext>
            </a:extLst>
          </p:cNvPr>
          <p:cNvSpPr/>
          <p:nvPr/>
        </p:nvSpPr>
        <p:spPr>
          <a:xfrm>
            <a:off x="631908" y="4650581"/>
            <a:ext cx="5408676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Barlow Bold" panose="020B0604020202020204" charset="0"/>
              </a:rPr>
              <a:t>Total passengers</a:t>
            </a:r>
          </a:p>
        </p:txBody>
      </p:sp>
      <p:sp>
        <p:nvSpPr>
          <p:cNvPr id="63" name="Text 22">
            <a:extLst>
              <a:ext uri="{FF2B5EF4-FFF2-40B4-BE49-F238E27FC236}">
                <a16:creationId xmlns:a16="http://schemas.microsoft.com/office/drawing/2014/main" id="{250D5248-E366-C2EC-BD52-2791E6B5D7A0}"/>
              </a:ext>
            </a:extLst>
          </p:cNvPr>
          <p:cNvSpPr/>
          <p:nvPr/>
        </p:nvSpPr>
        <p:spPr>
          <a:xfrm>
            <a:off x="1443200" y="5323384"/>
            <a:ext cx="3785994" cy="41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endParaRPr lang="en-US" sz="3250" dirty="0">
              <a:solidFill>
                <a:schemeClr val="bg1"/>
              </a:solidFill>
            </a:endParaRPr>
          </a:p>
        </p:txBody>
      </p:sp>
      <p:sp>
        <p:nvSpPr>
          <p:cNvPr id="65" name="Text 23">
            <a:extLst>
              <a:ext uri="{FF2B5EF4-FFF2-40B4-BE49-F238E27FC236}">
                <a16:creationId xmlns:a16="http://schemas.microsoft.com/office/drawing/2014/main" id="{02FAFF27-5844-2C47-62B3-5CFC27802E09}"/>
              </a:ext>
            </a:extLst>
          </p:cNvPr>
          <p:cNvSpPr/>
          <p:nvPr/>
        </p:nvSpPr>
        <p:spPr>
          <a:xfrm>
            <a:off x="631908" y="5869880"/>
            <a:ext cx="5408676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B20A09B-2866-7B97-B73D-0F3732EC95C8}"/>
              </a:ext>
            </a:extLst>
          </p:cNvPr>
          <p:cNvSpPr/>
          <p:nvPr/>
        </p:nvSpPr>
        <p:spPr>
          <a:xfrm>
            <a:off x="7119257" y="1665486"/>
            <a:ext cx="3327284" cy="3657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Text 7">
            <a:extLst>
              <a:ext uri="{FF2B5EF4-FFF2-40B4-BE49-F238E27FC236}">
                <a16:creationId xmlns:a16="http://schemas.microsoft.com/office/drawing/2014/main" id="{F759E499-487B-04B7-501D-EB3190597354}"/>
              </a:ext>
            </a:extLst>
          </p:cNvPr>
          <p:cNvSpPr/>
          <p:nvPr/>
        </p:nvSpPr>
        <p:spPr>
          <a:xfrm>
            <a:off x="6962401" y="1747042"/>
            <a:ext cx="3785994" cy="33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50" b="1" dirty="0">
                <a:solidFill>
                  <a:schemeClr val="bg1"/>
                </a:solidFill>
                <a:latin typeface="Barlow Bold" pitchFamily="34" charset="0"/>
              </a:rPr>
              <a:t>106</a:t>
            </a:r>
            <a:endParaRPr lang="en-US" sz="3250" dirty="0">
              <a:solidFill>
                <a:schemeClr val="bg1"/>
              </a:solidFill>
            </a:endParaRPr>
          </a:p>
        </p:txBody>
      </p:sp>
      <p:sp>
        <p:nvSpPr>
          <p:cNvPr id="71" name="Text 8">
            <a:extLst>
              <a:ext uri="{FF2B5EF4-FFF2-40B4-BE49-F238E27FC236}">
                <a16:creationId xmlns:a16="http://schemas.microsoft.com/office/drawing/2014/main" id="{F3E297C8-C0EB-80A0-22E9-B424E505A8DD}"/>
              </a:ext>
            </a:extLst>
          </p:cNvPr>
          <p:cNvSpPr/>
          <p:nvPr/>
        </p:nvSpPr>
        <p:spPr>
          <a:xfrm>
            <a:off x="6151110" y="2211983"/>
            <a:ext cx="5408676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Total countries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73" name="Text 13">
            <a:extLst>
              <a:ext uri="{FF2B5EF4-FFF2-40B4-BE49-F238E27FC236}">
                <a16:creationId xmlns:a16="http://schemas.microsoft.com/office/drawing/2014/main" id="{A7D158EE-47A2-0049-A9D7-14405F5F2479}"/>
              </a:ext>
            </a:extLst>
          </p:cNvPr>
          <p:cNvSpPr/>
          <p:nvPr/>
        </p:nvSpPr>
        <p:spPr>
          <a:xfrm>
            <a:off x="6962401" y="2884785"/>
            <a:ext cx="3785994" cy="41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50" b="1" dirty="0">
                <a:solidFill>
                  <a:schemeClr val="bg1"/>
                </a:solidFill>
                <a:latin typeface="Barlow Bold" pitchFamily="34" charset="0"/>
              </a:rPr>
              <a:t>150</a:t>
            </a:r>
            <a:endParaRPr lang="en-US" sz="3250" dirty="0">
              <a:solidFill>
                <a:schemeClr val="bg1"/>
              </a:solidFill>
            </a:endParaRPr>
          </a:p>
        </p:txBody>
      </p:sp>
      <p:sp>
        <p:nvSpPr>
          <p:cNvPr id="75" name="Text 14">
            <a:extLst>
              <a:ext uri="{FF2B5EF4-FFF2-40B4-BE49-F238E27FC236}">
                <a16:creationId xmlns:a16="http://schemas.microsoft.com/office/drawing/2014/main" id="{321F54CE-FAE5-B5F5-77A6-EC6146C01CCD}"/>
              </a:ext>
            </a:extLst>
          </p:cNvPr>
          <p:cNvSpPr/>
          <p:nvPr/>
        </p:nvSpPr>
        <p:spPr>
          <a:xfrm>
            <a:off x="6151110" y="3431282"/>
            <a:ext cx="5408676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Barlow Bold" panose="020B0604020202020204" charset="0"/>
              </a:rPr>
              <a:t>Total Aircraft Type</a:t>
            </a:r>
          </a:p>
        </p:txBody>
      </p:sp>
      <p:sp>
        <p:nvSpPr>
          <p:cNvPr id="77" name="Text 19">
            <a:extLst>
              <a:ext uri="{FF2B5EF4-FFF2-40B4-BE49-F238E27FC236}">
                <a16:creationId xmlns:a16="http://schemas.microsoft.com/office/drawing/2014/main" id="{EE86CF64-0E82-5E93-00CC-43D83F905D85}"/>
              </a:ext>
            </a:extLst>
          </p:cNvPr>
          <p:cNvSpPr/>
          <p:nvPr/>
        </p:nvSpPr>
        <p:spPr>
          <a:xfrm>
            <a:off x="6962401" y="4104084"/>
            <a:ext cx="3785994" cy="41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50" b="1" dirty="0">
                <a:solidFill>
                  <a:schemeClr val="bg1"/>
                </a:solidFill>
                <a:latin typeface="Barlow Bold" panose="020B0604020202020204" charset="0"/>
              </a:rPr>
              <a:t>2,799,356</a:t>
            </a:r>
          </a:p>
        </p:txBody>
      </p:sp>
      <p:sp>
        <p:nvSpPr>
          <p:cNvPr id="79" name="Text 20">
            <a:extLst>
              <a:ext uri="{FF2B5EF4-FFF2-40B4-BE49-F238E27FC236}">
                <a16:creationId xmlns:a16="http://schemas.microsoft.com/office/drawing/2014/main" id="{AE22A71C-5133-257E-492E-F6ED3F33D1BA}"/>
              </a:ext>
            </a:extLst>
          </p:cNvPr>
          <p:cNvSpPr/>
          <p:nvPr/>
        </p:nvSpPr>
        <p:spPr>
          <a:xfrm>
            <a:off x="6151110" y="4650581"/>
            <a:ext cx="5408676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Barlow Bold" pitchFamily="34" charset="0"/>
              </a:rPr>
              <a:t>Total Flights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3" name="Text 26">
            <a:extLst>
              <a:ext uri="{FF2B5EF4-FFF2-40B4-BE49-F238E27FC236}">
                <a16:creationId xmlns:a16="http://schemas.microsoft.com/office/drawing/2014/main" id="{8284C070-4509-5E46-44DB-849DC7C8B0B9}"/>
              </a:ext>
            </a:extLst>
          </p:cNvPr>
          <p:cNvSpPr/>
          <p:nvPr/>
        </p:nvSpPr>
        <p:spPr>
          <a:xfrm>
            <a:off x="6151110" y="5869880"/>
            <a:ext cx="5408676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40153" y="710009"/>
            <a:ext cx="159271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31908" y="408385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rlow Bold" pitchFamily="34" charset="0"/>
              </a:rPr>
              <a:t>High cloud Airlines Dashboard</a:t>
            </a:r>
            <a:endParaRPr lang="en-US" sz="3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631908" y="4316512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4848308" y="37504"/>
            <a:ext cx="5243679" cy="1345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E27675-C70E-B456-0C87-F3170094E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950939"/>
            <a:ext cx="11013179" cy="52264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569C1-911E-4337-B23B-3784783A9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8F414D84-B89D-B63E-C2F6-05DA32FC98C2}"/>
              </a:ext>
            </a:extLst>
          </p:cNvPr>
          <p:cNvSpPr/>
          <p:nvPr/>
        </p:nvSpPr>
        <p:spPr>
          <a:xfrm>
            <a:off x="740153" y="710009"/>
            <a:ext cx="159271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3701857-0B4D-CD72-FB8F-2EDF54D457B5}"/>
              </a:ext>
            </a:extLst>
          </p:cNvPr>
          <p:cNvSpPr/>
          <p:nvPr/>
        </p:nvSpPr>
        <p:spPr>
          <a:xfrm>
            <a:off x="696760" y="345281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rlow Bold" panose="020B0604020202020204" charset="0"/>
              </a:rPr>
              <a:t>High cloud Airlines Dashboard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2FA2E0A-8453-CF5E-C023-11B9F9678512}"/>
              </a:ext>
            </a:extLst>
          </p:cNvPr>
          <p:cNvSpPr/>
          <p:nvPr/>
        </p:nvSpPr>
        <p:spPr>
          <a:xfrm>
            <a:off x="631908" y="4316512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AA4E76F-0E84-46A0-FCF9-9A53466052DE}"/>
              </a:ext>
            </a:extLst>
          </p:cNvPr>
          <p:cNvSpPr/>
          <p:nvPr/>
        </p:nvSpPr>
        <p:spPr>
          <a:xfrm>
            <a:off x="4848308" y="37504"/>
            <a:ext cx="5243679" cy="1345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0B8727-BAC3-31DE-C3AA-CC9D80697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60" y="1002307"/>
            <a:ext cx="10755087" cy="538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250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FEE17F-CE9E-CFAA-8C96-C0E6BC384575}"/>
              </a:ext>
            </a:extLst>
          </p:cNvPr>
          <p:cNvSpPr txBox="1"/>
          <p:nvPr/>
        </p:nvSpPr>
        <p:spPr>
          <a:xfrm>
            <a:off x="471055" y="375914"/>
            <a:ext cx="6096000" cy="661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SQL Queries</a:t>
            </a:r>
            <a:endParaRPr lang="en-US" sz="3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671080-FFD7-4A37-44AB-E115A177C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55" y="1181450"/>
            <a:ext cx="5537859" cy="49163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663EFA2-3DF1-CDC3-F966-42EB0687C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087" y="1181451"/>
            <a:ext cx="5537859" cy="491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386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29339" y="648395"/>
            <a:ext cx="1373252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4783" y="450255"/>
            <a:ext cx="10927878" cy="534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DAX Calculations &amp; Business Insights</a:t>
            </a:r>
            <a:endParaRPr lang="en-US" sz="3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25864" y="1374447"/>
            <a:ext cx="5265705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DAX Measures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5864" y="1729352"/>
            <a:ext cx="5191017" cy="472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7000"/>
              </a:lnSpc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DAX measures enable dynamic KPI calculations, airline performance analysis, and interactive filtering to provide meaningful business insights.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596743" y="1744823"/>
            <a:ext cx="4969393" cy="238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Business Insights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94389" y="2318940"/>
            <a:ext cx="5271747" cy="2802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✈️ Top-performing airlines operate the highest number of flights.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Flight delays vary significantly across different carriers and routes.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🌍 Domestic routes generate the majority of flight traffic.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🛫 Certain airports handle the highest passenger and flight volume.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📈 Flight performance trends help identify peak travel periods.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Interactive dashboards enable faster, data-driven decision-making for airline operations.</a:t>
            </a:r>
          </a:p>
          <a:p>
            <a:pPr marL="254000" indent="-254000" algn="l">
              <a:lnSpc>
                <a:spcPct val="127000"/>
              </a:lnSpc>
              <a:buSzPct val="100000"/>
              <a:buChar char="•"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828361" y="4539059"/>
            <a:ext cx="5184943" cy="24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12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4782" y="2716502"/>
            <a:ext cx="3862917" cy="10581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0109" y="2895997"/>
            <a:ext cx="3106064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</a:t>
            </a:r>
            <a:r>
              <a:rPr lang="en-IN" sz="16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Flights </a:t>
            </a:r>
            <a:endParaRPr lang="en-US" sz="165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810109" y="3250902"/>
            <a:ext cx="3106064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Flights = COUNTROWS(MainData_Final)</a:t>
            </a: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132" y="3952145"/>
            <a:ext cx="3862917" cy="96508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6457" y="4099420"/>
            <a:ext cx="3106064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passengers</a:t>
            </a:r>
          </a:p>
        </p:txBody>
      </p:sp>
      <p:sp>
        <p:nvSpPr>
          <p:cNvPr id="17" name="Text 12"/>
          <p:cNvSpPr/>
          <p:nvPr/>
        </p:nvSpPr>
        <p:spPr>
          <a:xfrm>
            <a:off x="816457" y="4454325"/>
            <a:ext cx="3106064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Passengers = SUM(MainData_Final[Passengers])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4783" y="5121372"/>
            <a:ext cx="3862916" cy="10581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54349" y="5298828"/>
            <a:ext cx="3106064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Distance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729339" y="5657748"/>
            <a:ext cx="3106064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Distance = AVERAGE(MainData_Final[Distance])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18524" y="718443"/>
            <a:ext cx="1143864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5605" y="734136"/>
            <a:ext cx="10927878" cy="475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Challenges, Future Scope &amp; Conclusion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473464" y="1878306"/>
            <a:ext cx="5287731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Challenges Faced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95157" y="2478460"/>
            <a:ext cx="4818438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1600" dirty="0">
                <a:latin typeface="Barlow Bold" panose="020B0604020202020204" charset="0"/>
                <a:ea typeface="Calibri" panose="020F0502020204030204" pitchFamily="34" charset="0"/>
                <a:cs typeface="Calibri" panose="020F0502020204030204" pitchFamily="34" charset="0"/>
              </a:rPr>
              <a:t>✈️ Large Flight Datasets</a:t>
            </a:r>
            <a:endParaRPr lang="en-US" sz="1600" dirty="0">
              <a:latin typeface="Barlow Bold" panose="020B060402020202020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07963" y="2831580"/>
            <a:ext cx="4818438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IN" sz="1100" dirty="0">
                <a:latin typeface="Montserrat" panose="00000500000000000000" pitchFamily="2" charset="0"/>
              </a:rPr>
              <a:t>Handling large volumes of flight data.</a:t>
            </a:r>
            <a:endParaRPr lang="en-US" sz="1100" dirty="0">
              <a:latin typeface="Montserrat" panose="00000500000000000000" pitchFamily="2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095157" y="3392839"/>
            <a:ext cx="4818438" cy="267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1100" dirty="0">
                <a:latin typeface="Montserrat" panose="00000500000000000000" pitchFamily="2" charset="0"/>
              </a:rPr>
              <a:t>Removing missing and duplicate records</a:t>
            </a:r>
            <a:r>
              <a:rPr lang="en-IN" sz="1600" dirty="0"/>
              <a:t>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862388" y="3575357"/>
            <a:ext cx="4818438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107963" y="3793124"/>
            <a:ext cx="4805632" cy="339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1600" dirty="0">
                <a:latin typeface="Barlow Bold" panose="020B0604020202020204" charset="0"/>
              </a:rPr>
              <a:t>⚡ </a:t>
            </a:r>
            <a:r>
              <a:rPr lang="en-IN" sz="1600" b="1" dirty="0">
                <a:latin typeface="Barlow Bold" panose="020B0604020202020204" charset="0"/>
              </a:rPr>
              <a:t>Dashboard Optimization</a:t>
            </a:r>
            <a:endParaRPr lang="en-US" sz="1450" dirty="0">
              <a:latin typeface="Barlow Bold" panose="020B060402020202020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107963" y="4142901"/>
            <a:ext cx="4805632" cy="480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IN" sz="1100" dirty="0">
                <a:latin typeface="Montserrat" panose="00000500000000000000" pitchFamily="2" charset="0"/>
              </a:rPr>
              <a:t>Improving Tableau  dashboard performance.</a:t>
            </a:r>
            <a:endParaRPr lang="en-US" sz="1100" dirty="0">
              <a:latin typeface="Montserrat" panose="00000500000000000000" pitchFamily="2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5722014" y="1856692"/>
            <a:ext cx="5287731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Future Enhancements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7187911" y="2492073"/>
            <a:ext cx="4818438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1600" b="1" dirty="0">
                <a:latin typeface="Barlow Bold" panose="020B0604020202020204" charset="0"/>
              </a:rPr>
              <a:t>🤖 Predictive Analytics</a:t>
            </a:r>
            <a:endParaRPr lang="en-US" sz="1450" b="1" dirty="0">
              <a:latin typeface="Barlow Bold" panose="020B060402020202020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7299671" y="2831580"/>
            <a:ext cx="4818438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IN" sz="1100" dirty="0">
                <a:latin typeface="Montserrat" panose="00000500000000000000" pitchFamily="2" charset="0"/>
              </a:rPr>
              <a:t>Forecast flight delays and passenger demand</a:t>
            </a:r>
            <a:r>
              <a:rPr lang="en-IN" sz="1100" dirty="0"/>
              <a:t>.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7187911" y="3270623"/>
            <a:ext cx="4930198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1600" dirty="0">
                <a:latin typeface="Barlow Bold" panose="020B0604020202020204" charset="0"/>
              </a:rPr>
              <a:t>☁️ </a:t>
            </a:r>
            <a:r>
              <a:rPr lang="en-IN" sz="1600" b="1" dirty="0">
                <a:latin typeface="Barlow Bold" panose="020B0604020202020204" charset="0"/>
              </a:rPr>
              <a:t>Real-Time Integration</a:t>
            </a:r>
            <a:endParaRPr lang="en-US" sz="1450" dirty="0">
              <a:latin typeface="Barlow Bold" panose="020B0604020202020204" charset="0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7299671" y="3623742"/>
            <a:ext cx="4818438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IN" sz="1100" dirty="0">
                <a:latin typeface="Montserrat" panose="00000500000000000000" pitchFamily="2" charset="0"/>
              </a:rPr>
              <a:t>Connect with live airline databases.</a:t>
            </a:r>
            <a:endParaRPr lang="en-US" sz="1100" dirty="0">
              <a:latin typeface="Montserrat" panose="00000500000000000000" pitchFamily="2" charset="0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7187911" y="4062785"/>
            <a:ext cx="4930198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1600" b="1" dirty="0">
                <a:latin typeface="Barlow Bold" panose="020B0604020202020204" charset="0"/>
              </a:rPr>
              <a:t>📱 Mobile Dashboard</a:t>
            </a:r>
            <a:endParaRPr lang="en-US" sz="1450" b="1" dirty="0">
              <a:latin typeface="Barlow Bold" panose="020B0604020202020204" charset="0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7299671" y="4415905"/>
            <a:ext cx="4818438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IN" sz="1100" dirty="0">
                <a:latin typeface="Montserrat" panose="00000500000000000000" pitchFamily="2" charset="0"/>
              </a:rPr>
              <a:t>Enable dashboard access on mobile devices.</a:t>
            </a:r>
            <a:endParaRPr lang="en-US" sz="1100" dirty="0">
              <a:latin typeface="Montserrat" panose="00000500000000000000" pitchFamily="2" charset="0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686080" y="5396013"/>
            <a:ext cx="19050" cy="675878"/>
          </a:xfrm>
          <a:prstGeom prst="roundRect">
            <a:avLst>
              <a:gd name="adj" fmla="val 59999"/>
            </a:avLst>
          </a:prstGeom>
          <a:solidFill>
            <a:srgbClr val="75BA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18"/>
          <p:cNvSpPr/>
          <p:nvPr/>
        </p:nvSpPr>
        <p:spPr>
          <a:xfrm>
            <a:off x="848497" y="5508894"/>
            <a:ext cx="10711289" cy="415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IN" sz="1600" dirty="0"/>
              <a:t>This project transformed airline data into interactive Tableau dashboards, helping stakeholders monitor KPIs, analyze flight performance, and make data-driven decisions.</a:t>
            </a:r>
            <a:endParaRPr lang="en-US" sz="1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C291412-5177-DF6D-E1E2-3616F5BA5F5B}"/>
              </a:ext>
            </a:extLst>
          </p:cNvPr>
          <p:cNvSpPr/>
          <p:nvPr/>
        </p:nvSpPr>
        <p:spPr>
          <a:xfrm>
            <a:off x="11009745" y="6594764"/>
            <a:ext cx="1108364" cy="1847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206BA7-4116-598E-42C2-27CADE6E3D01}"/>
              </a:ext>
            </a:extLst>
          </p:cNvPr>
          <p:cNvSpPr txBox="1"/>
          <p:nvPr/>
        </p:nvSpPr>
        <p:spPr>
          <a:xfrm>
            <a:off x="1007706" y="3078614"/>
            <a:ext cx="320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Barlow Bold" panose="020B0604020202020204" charset="0"/>
              </a:rPr>
              <a:t>📊 Data Cleaning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60CDE7-7A98-E822-D7FF-64A2BC65FCD9}"/>
              </a:ext>
            </a:extLst>
          </p:cNvPr>
          <p:cNvSpPr txBox="1"/>
          <p:nvPr/>
        </p:nvSpPr>
        <p:spPr>
          <a:xfrm>
            <a:off x="4493060" y="2998113"/>
            <a:ext cx="320587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014765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318</TotalTime>
  <Words>540</Words>
  <Application>Microsoft Office PowerPoint</Application>
  <PresentationFormat>Widescreen</PresentationFormat>
  <Paragraphs>99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Montserrat</vt:lpstr>
      <vt:lpstr>Garamond</vt:lpstr>
      <vt:lpstr>Barlow Bold</vt:lpstr>
      <vt:lpstr>Bahnschrift</vt:lpstr>
      <vt:lpstr>Calibri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kalyani simham</dc:creator>
  <cp:lastModifiedBy>kalyani simham</cp:lastModifiedBy>
  <cp:revision>13</cp:revision>
  <dcterms:created xsi:type="dcterms:W3CDTF">2026-07-20T17:23:17Z</dcterms:created>
  <dcterms:modified xsi:type="dcterms:W3CDTF">2026-08-08T05:15:36Z</dcterms:modified>
</cp:coreProperties>
</file>